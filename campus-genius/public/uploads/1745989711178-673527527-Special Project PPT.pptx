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16" r:id="rId3"/>
    <p:sldId id="417" r:id="rId4"/>
    <p:sldId id="400" r:id="rId5"/>
    <p:sldId id="402" r:id="rId6"/>
    <p:sldId id="418" r:id="rId7"/>
    <p:sldId id="444" r:id="rId8"/>
    <p:sldId id="445" r:id="rId9"/>
    <p:sldId id="420" r:id="rId10"/>
    <p:sldId id="421" r:id="rId11"/>
    <p:sldId id="446" r:id="rId12"/>
    <p:sldId id="448" r:id="rId13"/>
    <p:sldId id="447" r:id="rId14"/>
    <p:sldId id="443" r:id="rId15"/>
  </p:sldIdLst>
  <p:sldSz cx="9144000" cy="5143500" type="screen16x9"/>
  <p:notesSz cx="6858000" cy="9144000"/>
  <p:embeddedFontLst>
    <p:embeddedFont>
      <p:font typeface="Open Sans" panose="020B0606030504020204" charset="0"/>
      <p:regular r:id="rId22"/>
      <p:bold r:id="rId23"/>
    </p:embeddedFont>
    <p:embeddedFont>
      <p:font typeface="Philosopher" panose="00000500000000000000" charset="0"/>
      <p:regular r:id="rId24"/>
      <p:bold r:id="rId25"/>
      <p:italic r:id="rId26"/>
      <p:boldItalic r:id="rId27"/>
    </p:embeddedFont>
    <p:embeddedFont>
      <p:font typeface="Cascadia Mono SemiBold" panose="020B0609020000020004" charset="0"/>
      <p:bold r:id="rId28"/>
    </p:embeddedFont>
  </p:embeddedFontLst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44" userDrawn="1">
          <p15:clr>
            <a:srgbClr val="A4A3A4"/>
          </p15:clr>
        </p15:guide>
        <p15:guide id="2" pos="3049" userDrawn="1">
          <p15:clr>
            <a:srgbClr val="A4A3A4"/>
          </p15:clr>
        </p15:guide>
        <p15:guide id="3" orient="horz" pos="3092" userDrawn="1">
          <p15:clr>
            <a:srgbClr val="A4A3A4"/>
          </p15:clr>
        </p15:guide>
        <p15:guide id="4" orient="horz" pos="433" userDrawn="1">
          <p15:clr>
            <a:srgbClr val="A4A3A4"/>
          </p15:clr>
        </p15:guide>
        <p15:guide id="5" orient="horz" pos="2863" userDrawn="1">
          <p15:clr>
            <a:srgbClr val="A4A3A4"/>
          </p15:clr>
        </p15:guide>
        <p15:guide id="6" orient="horz" pos="2683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orient="horz" pos="1620" userDrawn="1">
          <p15:clr>
            <a:srgbClr val="A4A3A4"/>
          </p15:clr>
        </p15:guide>
        <p15:guide id="9" orient="horz" pos="771" userDrawn="1">
          <p15:clr>
            <a:srgbClr val="A4A3A4"/>
          </p15:clr>
        </p15:guide>
        <p15:guide id="10" pos="3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2A"/>
    <a:srgbClr val="C6AF92"/>
    <a:srgbClr val="1D1D1E"/>
    <a:srgbClr val="1C1C1E"/>
    <a:srgbClr val="181718"/>
    <a:srgbClr val="FCC896"/>
    <a:srgbClr val="2B2B2B"/>
    <a:srgbClr val="0B0B0B"/>
    <a:srgbClr val="CC9868"/>
    <a:srgbClr val="FCC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5244" autoAdjust="0"/>
  </p:normalViewPr>
  <p:slideViewPr>
    <p:cSldViewPr snapToGrid="0" showGuides="1">
      <p:cViewPr>
        <p:scale>
          <a:sx n="96" d="100"/>
          <a:sy n="96" d="100"/>
        </p:scale>
        <p:origin x="1325" y="274"/>
      </p:cViewPr>
      <p:guideLst>
        <p:guide pos="144"/>
        <p:guide pos="3049"/>
        <p:guide orient="horz" pos="3092"/>
        <p:guide orient="horz" pos="433"/>
        <p:guide orient="horz" pos="2863"/>
        <p:guide orient="horz" pos="2683"/>
        <p:guide pos="2880"/>
        <p:guide orient="horz" pos="1620"/>
        <p:guide orient="horz" pos="771"/>
        <p:guide pos="3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095067"/>
            <a:ext cx="8686800" cy="1789899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1305017"/>
            <a:ext cx="9144000" cy="13760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3199290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169981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374461"/>
            <a:ext cx="3889744" cy="2884967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3778103" y="1753689"/>
            <a:ext cx="666307" cy="2126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8915400" y="1375144"/>
            <a:ext cx="228600" cy="288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4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99484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3237615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175745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0B0B"/>
            </a:gs>
            <a:gs pos="100000">
              <a:srgbClr val="2B2B2B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D955F040-ED43-464F-96F2-927121FE6F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C95CE31C-667C-455E-B312-3B73BAEC6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Open Sans" panose="020B0606030504020204" charset="0"/>
          <a:ea typeface="Philosopher" panose="00000500000000000000" charset="0"/>
          <a:cs typeface="Philosopher" panose="00000500000000000000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H="1" flipV="1">
            <a:off x="3544062" y="263525"/>
            <a:ext cx="5010912" cy="514350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403619" y="1309566"/>
            <a:ext cx="852297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Learning Platform for Institutions</a:t>
            </a:r>
            <a:endParaRPr lang="en-US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791200" y="2962275"/>
            <a:ext cx="30264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-L.Sridhar Yadav         22STUCHH010684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SEC-E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91835" y="3964305"/>
            <a:ext cx="301053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solidFill>
                  <a:schemeClr val="bg1"/>
                </a:solidFill>
              </a:rPr>
              <a:t>UNDER THE GUIDANCE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Mr. Kaleem Mohammad </a:t>
            </a:r>
            <a:endParaRPr 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图片 97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>
            <a:off x="228600" y="0"/>
            <a:ext cx="5010912" cy="5143500"/>
          </a:xfrm>
          <a:prstGeom prst="rect">
            <a:avLst/>
          </a:prstGeom>
        </p:spPr>
      </p:pic>
      <p:sp>
        <p:nvSpPr>
          <p:cNvPr id="99" name="矩形 98"/>
          <p:cNvSpPr/>
          <p:nvPr/>
        </p:nvSpPr>
        <p:spPr bwMode="auto">
          <a:xfrm>
            <a:off x="1156970" y="2008505"/>
            <a:ext cx="340360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endParaRPr lang="zh-CN" altLang="en-US" sz="4800" b="1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32504" y="95682"/>
            <a:ext cx="76516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LOGO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01650" y="449580"/>
            <a:ext cx="3705225" cy="678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Introduction</a:t>
            </a:r>
            <a:endParaRPr lang="en-US" altLang="en-US" sz="36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14705" y="1229360"/>
            <a:ext cx="6202045" cy="3036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CampusGenius is an AI-powered learning platform designed for colleges and students.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 offers a centralized system for quizzes, meetings, notes sharing, summarization, and doubt solving.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platform has two modules: Faculty (Admins) and Students (Users).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aim is to enhance communication, productivity, and learning outcomes for both students and teachers.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Ensures real-time collaboration and personalized learning experiences.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endParaRPr lang="en-US" altLang="en-US" sz="36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  <a:p>
            <a:endParaRPr lang="en-US" altLang="en-US" sz="36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228600" y="0"/>
            <a:ext cx="5010912" cy="51435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28345" y="556895"/>
            <a:ext cx="3382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Problem Statement</a:t>
            </a:r>
            <a:endParaRPr lang="en-US" sz="24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36015" y="1153795"/>
            <a:ext cx="70281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Traditional learning platforms often lack real-time interaction, personalized AI support, and effective faculty-student collaboration.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There are no platform that AI-integrated platform that supports learning, note-sharing, meeting summarization, and quiz generation in one place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Many e-learning platforms like Moodle and Google Classroom provide basic LMS features but lack AI integration.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Existing systems are often not user-friendly or do not combine all features (chatbot, notes, quizzes, meetings) in one unified interface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5509260" y="3688715"/>
            <a:ext cx="323215" cy="619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812165" y="430530"/>
            <a:ext cx="390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Project Objective</a:t>
            </a:r>
            <a:endParaRPr lang="en-US" altLang="en-US" sz="28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300480" y="1228725"/>
            <a:ext cx="6160770" cy="2906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Create a smart learning platform for colleges and universities.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Bring quizzes, meetings, notes, and doubt-solving into one system.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 AI to make quizzes, summarize notes, and answer questions faster.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Help students learn better with instant support and easy access to materials.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Improve real-time communication between students and teachers.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Make it easy for faculty to manage classes, meetings, and track student performance.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228600" y="0"/>
            <a:ext cx="501091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4226" y="1042257"/>
            <a:ext cx="2710357" cy="945515"/>
            <a:chOff x="108451" y="1301278"/>
            <a:chExt cx="2710357" cy="945515"/>
          </a:xfrm>
        </p:grpSpPr>
        <p:sp>
          <p:nvSpPr>
            <p:cNvPr id="18" name="文本框 17"/>
            <p:cNvSpPr txBox="1"/>
            <p:nvPr/>
          </p:nvSpPr>
          <p:spPr>
            <a:xfrm>
              <a:off x="486911" y="1913418"/>
              <a:ext cx="1953895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8451" y="1593666"/>
              <a:ext cx="2710357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endParaRPr lang="zh-CN" altLang="en-US" sz="1600">
                <a:cs typeface="Philosopher" panose="00000500000000000000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6221" y="1301278"/>
              <a:ext cx="64071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63640" y="1042257"/>
            <a:ext cx="2710357" cy="945616"/>
            <a:chOff x="108451" y="1301278"/>
            <a:chExt cx="2710357" cy="945616"/>
          </a:xfrm>
        </p:grpSpPr>
        <p:sp>
          <p:nvSpPr>
            <p:cNvPr id="24" name="文本框 23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8451" y="1593666"/>
              <a:ext cx="2710357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endParaRPr lang="zh-CN" altLang="en-US" sz="1600">
                <a:cs typeface="Philosopher" panose="00000500000000000000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878831" y="1301278"/>
              <a:ext cx="78105" cy="1174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32423" y="3034089"/>
            <a:ext cx="1953963" cy="945616"/>
            <a:chOff x="486648" y="1301278"/>
            <a:chExt cx="1953963" cy="945616"/>
          </a:xfrm>
        </p:grpSpPr>
        <p:sp>
          <p:nvSpPr>
            <p:cNvPr id="28" name="文本框 27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641837" y="2895947"/>
            <a:ext cx="3193855" cy="1083758"/>
            <a:chOff x="486648" y="1163136"/>
            <a:chExt cx="3193855" cy="1083758"/>
          </a:xfrm>
        </p:grpSpPr>
        <p:sp>
          <p:nvSpPr>
            <p:cNvPr id="32" name="文本框 31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70146" y="1163136"/>
              <a:ext cx="2710357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endParaRPr lang="zh-CN" altLang="en-US" sz="1600">
                <a:cs typeface="Philosopher" panose="00000500000000000000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525145" y="727710"/>
            <a:ext cx="3847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Key Features</a:t>
            </a:r>
            <a:endParaRPr lang="en-US" altLang="en-US" sz="28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pic>
        <p:nvPicPr>
          <p:cNvPr id="7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-1233805" y="1335405"/>
            <a:ext cx="8611235" cy="417893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106805" y="1671955"/>
            <a:ext cx="6461760" cy="292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</a:rPr>
              <a:t>Quizzes</a:t>
            </a:r>
            <a:r>
              <a:rPr lang="en-US" altLang="en-US">
                <a:solidFill>
                  <a:schemeClr val="bg1"/>
                </a:solidFill>
              </a:rPr>
              <a:t>: Faculty can create quizzes; students can take them.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</a:rPr>
              <a:t>Meetings</a:t>
            </a:r>
            <a:r>
              <a:rPr lang="en-US" altLang="en-US">
                <a:solidFill>
                  <a:schemeClr val="bg1"/>
                </a:solidFill>
              </a:rPr>
              <a:t>: Real-time video meetings with participant control.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</a:rPr>
              <a:t>Summarization</a:t>
            </a:r>
            <a:r>
              <a:rPr lang="en-US" altLang="en-US">
                <a:solidFill>
                  <a:schemeClr val="bg1"/>
                </a:solidFill>
              </a:rPr>
              <a:t>: Summarize meetings or texts using AI.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</a:rPr>
              <a:t>Notes Sharing</a:t>
            </a:r>
            <a:r>
              <a:rPr lang="en-US" altLang="en-US">
                <a:solidFill>
                  <a:schemeClr val="bg1"/>
                </a:solidFill>
              </a:rPr>
              <a:t>: Upload and access study material easily.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</a:rPr>
              <a:t>Chatbot</a:t>
            </a:r>
            <a:r>
              <a:rPr lang="en-US" altLang="en-US">
                <a:solidFill>
                  <a:schemeClr val="bg1"/>
                </a:solidFill>
              </a:rPr>
              <a:t>: AI-powered assistant for Q&amp;A, quiz generation, and more.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64540" y="724535"/>
            <a:ext cx="2712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User Modules</a:t>
            </a:r>
            <a:endParaRPr lang="en-US" altLang="en-US" sz="28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68475" y="1525270"/>
            <a:ext cx="43980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Faculty :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Create quizzes, meetings, and add notes.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View student performance.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 AI tools for automation.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Students :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Join meetings, take quizzes.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View notes, use AI chatbot.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Get performance insights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-1233805" y="1335405"/>
            <a:ext cx="8611235" cy="41789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21030" y="178435"/>
            <a:ext cx="4554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System Architecture</a:t>
            </a:r>
            <a:endParaRPr lang="en-US" altLang="en-US" sz="28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pic>
        <p:nvPicPr>
          <p:cNvPr id="5" name="Picture 4"/>
          <p:cNvPicPr/>
          <p:nvPr/>
        </p:nvPicPr>
        <p:blipFill>
          <a:blip/>
          <a:stretch>
            <a:fillRect/>
          </a:stretch>
        </p:blipFill>
        <p:spPr>
          <a:xfrm>
            <a:off x="4381500" y="2381250"/>
            <a:ext cx="3810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" y="1358265"/>
            <a:ext cx="1581150" cy="3557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510" y="1358265"/>
            <a:ext cx="1504950" cy="36893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21030" y="85598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1)student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660900" y="8559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2) Faculty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005" y="1405255"/>
            <a:ext cx="1736725" cy="35007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795" y="1379855"/>
            <a:ext cx="1858645" cy="3496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 Box 3"/>
          <p:cNvSpPr txBox="1"/>
          <p:nvPr/>
        </p:nvSpPr>
        <p:spPr>
          <a:xfrm>
            <a:off x="1134745" y="80010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Tech Stack</a:t>
            </a:r>
            <a:endParaRPr lang="en-US" altLang="en-US" sz="28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673225" y="1501140"/>
            <a:ext cx="4828540" cy="2526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Frontend</a:t>
            </a: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Next.js, Tailwind CSS, Redux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Backend</a:t>
            </a: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Django, FastAPI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Prisma ORM (Database management),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MySQL (structured), 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MongoDB (unstructured)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Real-Time</a:t>
            </a: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Socket.io, WebRTC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AI</a:t>
            </a: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Groq GPT API, LangChain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Authentication</a:t>
            </a: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JWT, OAuth 2.0, Django Allauth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04215" y="389255"/>
            <a:ext cx="2008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u="sng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UI Screens</a:t>
            </a:r>
            <a:endParaRPr lang="en-US" sz="2400" u="sng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20" y="1278890"/>
            <a:ext cx="7738110" cy="34836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04215" y="910590"/>
            <a:ext cx="2414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1) Faculty Dashbord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11250" y="688340"/>
            <a:ext cx="3131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2) Student Dashboard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85" y="1056640"/>
            <a:ext cx="7985760" cy="3963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03350" y="90170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Future Scope</a:t>
            </a:r>
            <a:endParaRPr lang="en-US" sz="24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11350" y="1536700"/>
            <a:ext cx="51054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Adaptive Learning Paths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Mobile App Development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Voice Assistant Integration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Faculty Collaboration Tools</a:t>
            </a: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Multilingual Support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0B0B"/>
            </a:gs>
            <a:gs pos="100000">
              <a:srgbClr val="2B2B2B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23950" y="609600"/>
            <a:ext cx="2070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solidFill>
                  <a:schemeClr val="bg1"/>
                </a:solidFill>
                <a:latin typeface="Cascadia Mono SemiBold" panose="020B0609020000020004" charset="0"/>
                <a:cs typeface="Cascadia Mono SemiBold" panose="020B0609020000020004" charset="0"/>
              </a:rPr>
              <a:t>Conclusion</a:t>
            </a:r>
            <a:endParaRPr lang="en-US" altLang="en-US" sz="2400">
              <a:solidFill>
                <a:schemeClr val="bg1"/>
              </a:solidFill>
              <a:latin typeface="Cascadia Mono SemiBold" panose="020B0609020000020004" charset="0"/>
              <a:cs typeface="Cascadia Mono SemiBold" panose="020B060902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504950" y="1249680"/>
            <a:ext cx="60452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CampusGenius provides a smart, centralized platform for students and faculty to engage in learning through quizzes, meetings, and note sharing.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integration of AI features like summarization and chatbot assistance enhances the learning and teaching experience.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Using modern technologies (Next.js, FastAPI, Prisma, GPT) improves scalability, responsiveness, and performance.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platform is designed to user-friendly, secure, and adaptable for different educational needs.</a:t>
            </a: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H="1" flipV="1">
            <a:off x="3806952" y="0"/>
            <a:ext cx="5010912" cy="5143500"/>
          </a:xfrm>
          <a:prstGeom prst="rect">
            <a:avLst/>
          </a:prstGeom>
        </p:spPr>
      </p:pic>
      <p:sp>
        <p:nvSpPr>
          <p:cNvPr id="116" name="矩形 115"/>
          <p:cNvSpPr/>
          <p:nvPr/>
        </p:nvSpPr>
        <p:spPr>
          <a:xfrm>
            <a:off x="6761747" y="4524599"/>
            <a:ext cx="226247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altLang="zh-CN" sz="1400">
                <a:ln w="381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 .</a:t>
            </a:r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340610" y="2060575"/>
            <a:ext cx="44634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THANK YOU </a:t>
            </a:r>
            <a:endParaRPr lang="en-US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COMMONDATA" val="eyJoZGlkIjoiMmNmYmEwOWQ4Y2Q0M2IxMGZkNjI4ZjhkZDQyNzg1OTYifQ=="/>
  <p:tag name="KSO_WPP_MARK_KEY" val="aa8c7646-61de-48a2-bdbc-d3e5c7c21b55"/>
</p:tagLst>
</file>

<file path=ppt/theme/theme1.xml><?xml version="1.0" encoding="utf-8"?>
<a:theme xmlns:a="http://schemas.openxmlformats.org/drawingml/2006/main" name="Office 主题​​">
  <a:themeElements>
    <a:clrScheme name="自定义 95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CC896"/>
      </a:accent1>
      <a:accent2>
        <a:srgbClr val="E0A366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2022采购宋体思源宋体 CN Heavy">
      <a:majorFont>
        <a:latin typeface="Open Sans"/>
        <a:ea typeface="Philosopher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Philosopher"/>
        <a:font script="Hebr" typeface="Philosoph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hilosoph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Philosopher"/>
        <a:font script="Hebr" typeface="Philosoph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hilosoph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商务风通用营销策划模板</Template>
  <TotalTime>0</TotalTime>
  <Words>3013</Words>
  <Application>WPS Slides</Application>
  <PresentationFormat>全屏显示(16:9)</PresentationFormat>
  <Paragraphs>108</Paragraphs>
  <Slides>13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Open Sans</vt:lpstr>
      <vt:lpstr>Philosopher</vt:lpstr>
      <vt:lpstr>Oswald</vt:lpstr>
      <vt:lpstr>Segoe Print</vt:lpstr>
      <vt:lpstr>等线</vt:lpstr>
      <vt:lpstr>Aharoni</vt:lpstr>
      <vt:lpstr>Yu Gothic UI Semibold</vt:lpstr>
      <vt:lpstr>思源黑体 CN Heavy</vt:lpstr>
      <vt:lpstr>汉仪旗黑-50S</vt:lpstr>
      <vt:lpstr>Microsoft YaHei</vt:lpstr>
      <vt:lpstr>Arial Unicode MS</vt:lpstr>
      <vt:lpstr>Cascadia Mono SemiBold</vt:lpstr>
      <vt:lpstr>Times New Roman</vt:lpstr>
      <vt:lpstr>Microsoft Sans Serif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Sridhar Yadav</cp:lastModifiedBy>
  <cp:revision>17</cp:revision>
  <dcterms:created xsi:type="dcterms:W3CDTF">2022-06-22T06:53:00Z</dcterms:created>
  <dcterms:modified xsi:type="dcterms:W3CDTF">2025-04-30T05:04:16Z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31665D97F6FB46C98EFF6517FD6E6CC3_13</vt:lpwstr>
  </property>
  <property fmtid="{D5CDD505-2E9C-101B-9397-08002B2CF9AE}" pid="3" name="KSOProductBuildVer">
    <vt:lpwstr>1033-12.2.0.20795</vt:lpwstr>
  </property>
</Properties>
</file>